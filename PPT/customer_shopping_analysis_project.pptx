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b998da7669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b998da7669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b998da766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b998da766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998da7669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b998da7669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b998da766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b998da7669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998da7669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b998da7669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b998da7669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b998da7669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b998da766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b998da766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b998da766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b998da766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998da766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b998da766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b998da766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b998da7669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53" name="Shape 53"/>
        <p:cNvGrpSpPr/>
        <p:nvPr/>
      </p:nvGrpSpPr>
      <p:grpSpPr>
        <a:xfrm>
          <a:off x="0" y="0"/>
          <a:ext cx="0" cy="0"/>
          <a:chOff x="0" y="0"/>
          <a:chExt cx="0" cy="0"/>
        </a:xfrm>
      </p:grpSpPr>
      <p:sp>
        <p:nvSpPr>
          <p:cNvPr id="54" name="Google Shape;54;p13"/>
          <p:cNvSpPr txBox="1"/>
          <p:nvPr/>
        </p:nvSpPr>
        <p:spPr>
          <a:xfrm>
            <a:off x="2000925" y="375275"/>
            <a:ext cx="5660700" cy="580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500">
                <a:solidFill>
                  <a:schemeClr val="lt1"/>
                </a:solidFill>
                <a:latin typeface="Georgia"/>
                <a:ea typeface="Georgia"/>
                <a:cs typeface="Georgia"/>
                <a:sym typeface="Georgia"/>
              </a:rPr>
              <a:t>Sales &amp; Price Analysis Case Study</a:t>
            </a:r>
            <a:endParaRPr b="1" sz="2500">
              <a:solidFill>
                <a:schemeClr val="lt1"/>
              </a:solidFill>
              <a:latin typeface="Georgia"/>
              <a:ea typeface="Georgia"/>
              <a:cs typeface="Georgia"/>
              <a:sym typeface="Georgia"/>
            </a:endParaRPr>
          </a:p>
        </p:txBody>
      </p:sp>
      <p:sp>
        <p:nvSpPr>
          <p:cNvPr id="55" name="Google Shape;55;p13"/>
          <p:cNvSpPr txBox="1"/>
          <p:nvPr/>
        </p:nvSpPr>
        <p:spPr>
          <a:xfrm>
            <a:off x="2228975" y="1256525"/>
            <a:ext cx="4727400" cy="507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00">
                <a:solidFill>
                  <a:schemeClr val="lt1"/>
                </a:solidFill>
                <a:latin typeface="Georgia"/>
                <a:ea typeface="Georgia"/>
                <a:cs typeface="Georgia"/>
                <a:sym typeface="Georgia"/>
              </a:rPr>
              <a:t>Customer</a:t>
            </a:r>
            <a:r>
              <a:rPr lang="en" sz="2100">
                <a:solidFill>
                  <a:schemeClr val="lt1"/>
                </a:solidFill>
                <a:latin typeface="Georgia"/>
                <a:ea typeface="Georgia"/>
                <a:cs typeface="Georgia"/>
                <a:sym typeface="Georgia"/>
              </a:rPr>
              <a:t> Shopping Retail Analysis</a:t>
            </a:r>
            <a:endParaRPr sz="2100">
              <a:solidFill>
                <a:schemeClr val="lt1"/>
              </a:solidFill>
              <a:latin typeface="Georgia"/>
              <a:ea typeface="Georgia"/>
              <a:cs typeface="Georgia"/>
              <a:sym typeface="Georgia"/>
            </a:endParaRPr>
          </a:p>
        </p:txBody>
      </p:sp>
      <p:sp>
        <p:nvSpPr>
          <p:cNvPr id="56" name="Google Shape;56;p13"/>
          <p:cNvSpPr txBox="1"/>
          <p:nvPr/>
        </p:nvSpPr>
        <p:spPr>
          <a:xfrm>
            <a:off x="2467425" y="2251800"/>
            <a:ext cx="4385400" cy="66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solidFill>
                  <a:schemeClr val="lt1"/>
                </a:solidFill>
                <a:latin typeface="Georgia"/>
                <a:ea typeface="Georgia"/>
                <a:cs typeface="Georgia"/>
                <a:sym typeface="Georgia"/>
              </a:rPr>
              <a:t>Prepare</a:t>
            </a:r>
            <a:r>
              <a:rPr lang="en" sz="2200">
                <a:solidFill>
                  <a:schemeClr val="lt1"/>
                </a:solidFill>
                <a:latin typeface="Georgia"/>
                <a:ea typeface="Georgia"/>
                <a:cs typeface="Georgia"/>
                <a:sym typeface="Georgia"/>
              </a:rPr>
              <a:t> By: Ibrahim Shakhatreh </a:t>
            </a:r>
            <a:endParaRPr sz="2200">
              <a:solidFill>
                <a:schemeClr val="lt1"/>
              </a:solidFill>
              <a:latin typeface="Georgia"/>
              <a:ea typeface="Georgia"/>
              <a:cs typeface="Georgia"/>
              <a:sym typeface="Georg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60" name="Shape 60"/>
        <p:cNvGrpSpPr/>
        <p:nvPr/>
      </p:nvGrpSpPr>
      <p:grpSpPr>
        <a:xfrm>
          <a:off x="0" y="0"/>
          <a:ext cx="0" cy="0"/>
          <a:chOff x="0" y="0"/>
          <a:chExt cx="0" cy="0"/>
        </a:xfrm>
      </p:grpSpPr>
      <p:sp>
        <p:nvSpPr>
          <p:cNvPr id="61" name="Google Shape;61;p14"/>
          <p:cNvSpPr txBox="1"/>
          <p:nvPr/>
        </p:nvSpPr>
        <p:spPr>
          <a:xfrm>
            <a:off x="2539975" y="261275"/>
            <a:ext cx="4644600" cy="61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Georgia"/>
                <a:ea typeface="Georgia"/>
                <a:cs typeface="Georgia"/>
                <a:sym typeface="Georgia"/>
              </a:rPr>
              <a:t>Introduction about dataset</a:t>
            </a:r>
            <a:endParaRPr sz="2400">
              <a:solidFill>
                <a:schemeClr val="lt1"/>
              </a:solidFill>
              <a:latin typeface="Georgia"/>
              <a:ea typeface="Georgia"/>
              <a:cs typeface="Georgia"/>
              <a:sym typeface="Georgia"/>
            </a:endParaRPr>
          </a:p>
        </p:txBody>
      </p:sp>
      <p:sp>
        <p:nvSpPr>
          <p:cNvPr id="62" name="Google Shape;62;p14"/>
          <p:cNvSpPr txBox="1"/>
          <p:nvPr/>
        </p:nvSpPr>
        <p:spPr>
          <a:xfrm>
            <a:off x="622025" y="1348250"/>
            <a:ext cx="7547400" cy="18885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lang="en" sz="2100">
                <a:solidFill>
                  <a:schemeClr val="lt1"/>
                </a:solidFill>
                <a:latin typeface="Georgia"/>
                <a:ea typeface="Georgia"/>
                <a:cs typeface="Georgia"/>
                <a:sym typeface="Georgia"/>
              </a:rPr>
              <a:t>The data set that I used taking about the sales across 10 malls in </a:t>
            </a:r>
            <a:r>
              <a:rPr lang="en" sz="2100">
                <a:solidFill>
                  <a:schemeClr val="lt1"/>
                </a:solidFill>
                <a:latin typeface="Georgia"/>
                <a:ea typeface="Georgia"/>
                <a:cs typeface="Georgia"/>
                <a:sym typeface="Georgia"/>
              </a:rPr>
              <a:t>istanbul and this data set provide useful information such as invoice number, invoice date, customer id, price, category,shopping mall and another useful information</a:t>
            </a:r>
            <a:endParaRPr sz="2100">
              <a:solidFill>
                <a:schemeClr val="lt1"/>
              </a:solidFill>
              <a:latin typeface="Georgia"/>
              <a:ea typeface="Georgia"/>
              <a:cs typeface="Georgia"/>
              <a:sym typeface="Georg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66" name="Shape 66"/>
        <p:cNvGrpSpPr/>
        <p:nvPr/>
      </p:nvGrpSpPr>
      <p:grpSpPr>
        <a:xfrm>
          <a:off x="0" y="0"/>
          <a:ext cx="0" cy="0"/>
          <a:chOff x="0" y="0"/>
          <a:chExt cx="0" cy="0"/>
        </a:xfrm>
      </p:grpSpPr>
      <p:sp>
        <p:nvSpPr>
          <p:cNvPr id="67" name="Google Shape;67;p15"/>
          <p:cNvSpPr txBox="1"/>
          <p:nvPr/>
        </p:nvSpPr>
        <p:spPr>
          <a:xfrm>
            <a:off x="1948150" y="329575"/>
            <a:ext cx="56625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latin typeface="Georgia"/>
                <a:ea typeface="Georgia"/>
                <a:cs typeface="Georgia"/>
                <a:sym typeface="Georgia"/>
              </a:rPr>
              <a:t>Overview about analysis operation</a:t>
            </a:r>
            <a:endParaRPr sz="2400">
              <a:solidFill>
                <a:schemeClr val="lt1"/>
              </a:solidFill>
              <a:latin typeface="Georgia"/>
              <a:ea typeface="Georgia"/>
              <a:cs typeface="Georgia"/>
              <a:sym typeface="Georgia"/>
            </a:endParaRPr>
          </a:p>
        </p:txBody>
      </p:sp>
      <p:sp>
        <p:nvSpPr>
          <p:cNvPr id="68" name="Google Shape;68;p15"/>
          <p:cNvSpPr txBox="1"/>
          <p:nvPr/>
        </p:nvSpPr>
        <p:spPr>
          <a:xfrm>
            <a:off x="537100" y="853800"/>
            <a:ext cx="7565100" cy="428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lt1"/>
                </a:solidFill>
                <a:latin typeface="Georgia"/>
                <a:ea typeface="Georgia"/>
                <a:cs typeface="Georgia"/>
                <a:sym typeface="Georgia"/>
              </a:rPr>
              <a:t>The dataset contains a total of 99,457 invoices. The data is clean and reliable, with no duplicated records and no missing values, which ensures the validity of the analysis.</a:t>
            </a:r>
            <a:endParaRPr sz="15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t/>
            </a:r>
            <a:endParaRPr sz="15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1500">
                <a:solidFill>
                  <a:schemeClr val="lt1"/>
                </a:solidFill>
                <a:latin typeface="Georgia"/>
                <a:ea typeface="Georgia"/>
                <a:cs typeface="Georgia"/>
                <a:sym typeface="Georgia"/>
              </a:rPr>
              <a:t>The initial exploratory analysis focused on assessing whether prices are stable across different shopping malls. As a first step, scatter plots were used to visualize price distribution across product categories, helping to identify price stability within each category.</a:t>
            </a:r>
            <a:endParaRPr sz="15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t/>
            </a:r>
            <a:endParaRPr sz="15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1500">
                <a:solidFill>
                  <a:schemeClr val="lt1"/>
                </a:solidFill>
                <a:latin typeface="Georgia"/>
                <a:ea typeface="Georgia"/>
                <a:cs typeface="Georgia"/>
                <a:sym typeface="Georgia"/>
              </a:rPr>
              <a:t>Based on this, an additional scatter plot was created to examine the relationship between price and shopping mall. The results show a high level of price overlap across malls, indicating that prices are generally consistent across different locations for the same product categories.</a:t>
            </a:r>
            <a:endParaRPr sz="15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1500">
                <a:solidFill>
                  <a:schemeClr val="lt1"/>
                </a:solidFill>
                <a:latin typeface="Georgia"/>
                <a:ea typeface="Georgia"/>
                <a:cs typeface="Georgia"/>
                <a:sym typeface="Georgia"/>
              </a:rPr>
              <a:t>However, the analysis also reveals price gaps between categories, where certain categories consistently exhibit higher price levels compared to others, suggesting category-driven pricing differences rather than mall-specific pricing.</a:t>
            </a:r>
            <a:endParaRPr sz="1500">
              <a:solidFill>
                <a:schemeClr val="lt1"/>
              </a:solidFill>
              <a:latin typeface="Georgia"/>
              <a:ea typeface="Georgia"/>
              <a:cs typeface="Georgia"/>
              <a:sym typeface="Georg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72" name="Shape 72"/>
        <p:cNvGrpSpPr/>
        <p:nvPr/>
      </p:nvGrpSpPr>
      <p:grpSpPr>
        <a:xfrm>
          <a:off x="0" y="0"/>
          <a:ext cx="0" cy="0"/>
          <a:chOff x="0" y="0"/>
          <a:chExt cx="0" cy="0"/>
        </a:xfrm>
      </p:grpSpPr>
      <p:pic>
        <p:nvPicPr>
          <p:cNvPr id="73" name="Google Shape;73;p16"/>
          <p:cNvPicPr preferRelativeResize="0"/>
          <p:nvPr/>
        </p:nvPicPr>
        <p:blipFill>
          <a:blip r:embed="rId3">
            <a:alphaModFix/>
          </a:blip>
          <a:stretch>
            <a:fillRect/>
          </a:stretch>
        </p:blipFill>
        <p:spPr>
          <a:xfrm>
            <a:off x="161025" y="325250"/>
            <a:ext cx="3853651" cy="3734225"/>
          </a:xfrm>
          <a:prstGeom prst="rect">
            <a:avLst/>
          </a:prstGeom>
          <a:noFill/>
          <a:ln>
            <a:noFill/>
          </a:ln>
        </p:spPr>
      </p:pic>
      <p:sp>
        <p:nvSpPr>
          <p:cNvPr id="74" name="Google Shape;74;p16"/>
          <p:cNvSpPr/>
          <p:nvPr/>
        </p:nvSpPr>
        <p:spPr>
          <a:xfrm>
            <a:off x="4497150" y="226000"/>
            <a:ext cx="4269600" cy="4272900"/>
          </a:xfrm>
          <a:prstGeom prst="rect">
            <a:avLst/>
          </a:prstGeom>
          <a:solidFill>
            <a:schemeClr val="dk2"/>
          </a:solidFill>
          <a:ln cap="flat" cmpd="sng" w="38100">
            <a:solidFill>
              <a:schemeClr val="lt1"/>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 name="Google Shape;75;p16"/>
          <p:cNvSpPr txBox="1"/>
          <p:nvPr/>
        </p:nvSpPr>
        <p:spPr>
          <a:xfrm>
            <a:off x="4572000" y="274900"/>
            <a:ext cx="4269600" cy="40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chemeClr val="lt1"/>
                </a:solidFill>
              </a:rPr>
              <a:t>Based on the following chart the category has highest price is Technology because there is an distribution on prices on this category cross malls and reach the price over 5000, also maybe there is distribution between cheap and expense categories , also show the 4 categories has lower than 500 </a:t>
            </a:r>
            <a:endParaRPr sz="1800">
              <a:solidFill>
                <a:schemeClr val="lt1"/>
              </a:solidFill>
            </a:endParaRPr>
          </a:p>
          <a:p>
            <a:pPr indent="0" lvl="0" marL="0" rtl="0" algn="l">
              <a:spcBef>
                <a:spcPts val="0"/>
              </a:spcBef>
              <a:spcAft>
                <a:spcPts val="0"/>
              </a:spcAft>
              <a:buClr>
                <a:schemeClr val="dk1"/>
              </a:buClr>
              <a:buSzPts val="1100"/>
              <a:buFont typeface="Arial"/>
              <a:buNone/>
            </a:pPr>
            <a:r>
              <a:rPr lang="en" sz="1800">
                <a:solidFill>
                  <a:schemeClr val="lt1"/>
                </a:solidFill>
              </a:rPr>
              <a:t>Toys,Books,Clothing,Shoes in general there is an gap between especially in shoes and clothes because may be the mall introduce highest and expense brand</a:t>
            </a:r>
            <a:endParaRPr sz="1800">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79" name="Shape 79"/>
        <p:cNvGrpSpPr/>
        <p:nvPr/>
      </p:nvGrpSpPr>
      <p:grpSpPr>
        <a:xfrm>
          <a:off x="0" y="0"/>
          <a:ext cx="0" cy="0"/>
          <a:chOff x="0" y="0"/>
          <a:chExt cx="0" cy="0"/>
        </a:xfrm>
      </p:grpSpPr>
      <p:sp>
        <p:nvSpPr>
          <p:cNvPr id="80" name="Google Shape;80;p17"/>
          <p:cNvSpPr txBox="1"/>
          <p:nvPr/>
        </p:nvSpPr>
        <p:spPr>
          <a:xfrm>
            <a:off x="491600" y="853800"/>
            <a:ext cx="7565100" cy="428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500">
              <a:solidFill>
                <a:schemeClr val="lt1"/>
              </a:solidFill>
              <a:latin typeface="Georgia"/>
              <a:ea typeface="Georgia"/>
              <a:cs typeface="Georgia"/>
              <a:sym typeface="Georgia"/>
            </a:endParaRPr>
          </a:p>
        </p:txBody>
      </p:sp>
      <p:sp>
        <p:nvSpPr>
          <p:cNvPr id="81" name="Google Shape;81;p17"/>
          <p:cNvSpPr txBox="1"/>
          <p:nvPr/>
        </p:nvSpPr>
        <p:spPr>
          <a:xfrm>
            <a:off x="83950" y="338650"/>
            <a:ext cx="9283500" cy="34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chemeClr val="lt1"/>
                </a:solidFill>
                <a:latin typeface="Georgia"/>
                <a:ea typeface="Georgia"/>
                <a:cs typeface="Georgia"/>
                <a:sym typeface="Georgia"/>
              </a:rPr>
              <a:t>The following analysis is based on the standard deviation and variance and mean:</a:t>
            </a:r>
            <a:endParaRPr sz="2000">
              <a:solidFill>
                <a:schemeClr val="lt1"/>
              </a:solidFill>
              <a:latin typeface="Georgia"/>
              <a:ea typeface="Georgia"/>
              <a:cs typeface="Georgia"/>
              <a:sym typeface="Georgia"/>
            </a:endParaRPr>
          </a:p>
          <a:p>
            <a:pPr indent="0" lvl="0" marL="0" rtl="0" algn="l">
              <a:spcBef>
                <a:spcPts val="0"/>
              </a:spcBef>
              <a:spcAft>
                <a:spcPts val="0"/>
              </a:spcAft>
              <a:buNone/>
            </a:pPr>
            <a:r>
              <a:t/>
            </a:r>
            <a:endParaRPr sz="20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For example if select a simple sample to compare between Cevahir AVM mall</a:t>
            </a:r>
            <a:endParaRPr sz="20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And Emaar Square Mall in book category, after calculate the mean and the </a:t>
            </a:r>
            <a:endParaRPr sz="20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Variance found the variance in Cevahir AVM mall</a:t>
            </a:r>
            <a:endParaRPr sz="20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For book category is 4.543511e+02 and for the same category 5.019698e+02</a:t>
            </a:r>
            <a:endParaRPr sz="20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Based on this results show that in the second mall the price is higher than in </a:t>
            </a:r>
            <a:endParaRPr sz="20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First mall because the first variance is less than the second variance to show if there is an different in the price for the same category in different malls.</a:t>
            </a:r>
            <a:endParaRPr sz="2000">
              <a:solidFill>
                <a:schemeClr val="lt1"/>
              </a:solidFill>
              <a:latin typeface="Georgia"/>
              <a:ea typeface="Georgia"/>
              <a:cs typeface="Georgia"/>
              <a:sym typeface="Georgia"/>
            </a:endParaRPr>
          </a:p>
          <a:p>
            <a:pPr indent="0" lvl="0" marL="0" rtl="0" algn="l">
              <a:spcBef>
                <a:spcPts val="0"/>
              </a:spcBef>
              <a:spcAft>
                <a:spcPts val="0"/>
              </a:spcAft>
              <a:buNone/>
            </a:pPr>
            <a:r>
              <a:t/>
            </a:r>
            <a:endParaRPr sz="2000">
              <a:solidFill>
                <a:schemeClr val="lt1"/>
              </a:solidFill>
              <a:latin typeface="Georgia"/>
              <a:ea typeface="Georgia"/>
              <a:cs typeface="Georgia"/>
              <a:sym typeface="Georgia"/>
            </a:endParaRPr>
          </a:p>
          <a:p>
            <a:pPr indent="0" lvl="0" marL="0" rtl="0" algn="l">
              <a:spcBef>
                <a:spcPts val="0"/>
              </a:spcBef>
              <a:spcAft>
                <a:spcPts val="0"/>
              </a:spcAft>
              <a:buNone/>
            </a:pPr>
            <a:r>
              <a:t/>
            </a:r>
            <a:endParaRPr sz="2000">
              <a:solidFill>
                <a:schemeClr val="lt1"/>
              </a:solidFill>
              <a:latin typeface="Georgia"/>
              <a:ea typeface="Georgia"/>
              <a:cs typeface="Georgia"/>
              <a:sym typeface="Georg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85" name="Shape 85"/>
        <p:cNvGrpSpPr/>
        <p:nvPr/>
      </p:nvGrpSpPr>
      <p:grpSpPr>
        <a:xfrm>
          <a:off x="0" y="0"/>
          <a:ext cx="0" cy="0"/>
          <a:chOff x="0" y="0"/>
          <a:chExt cx="0" cy="0"/>
        </a:xfrm>
      </p:grpSpPr>
      <p:sp>
        <p:nvSpPr>
          <p:cNvPr id="86" name="Google Shape;86;p18"/>
          <p:cNvSpPr txBox="1"/>
          <p:nvPr/>
        </p:nvSpPr>
        <p:spPr>
          <a:xfrm>
            <a:off x="1948150" y="329575"/>
            <a:ext cx="56625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400">
              <a:solidFill>
                <a:schemeClr val="lt1"/>
              </a:solidFill>
              <a:latin typeface="Georgia"/>
              <a:ea typeface="Georgia"/>
              <a:cs typeface="Georgia"/>
              <a:sym typeface="Georgia"/>
            </a:endParaRPr>
          </a:p>
        </p:txBody>
      </p:sp>
      <p:sp>
        <p:nvSpPr>
          <p:cNvPr id="87" name="Google Shape;87;p18"/>
          <p:cNvSpPr txBox="1"/>
          <p:nvPr/>
        </p:nvSpPr>
        <p:spPr>
          <a:xfrm>
            <a:off x="537100" y="853800"/>
            <a:ext cx="7565100" cy="428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500">
              <a:solidFill>
                <a:schemeClr val="lt1"/>
              </a:solidFill>
              <a:latin typeface="Georgia"/>
              <a:ea typeface="Georgia"/>
              <a:cs typeface="Georgia"/>
              <a:sym typeface="Georgia"/>
            </a:endParaRPr>
          </a:p>
        </p:txBody>
      </p:sp>
      <p:sp>
        <p:nvSpPr>
          <p:cNvPr id="88" name="Google Shape;88;p18"/>
          <p:cNvSpPr txBox="1"/>
          <p:nvPr/>
        </p:nvSpPr>
        <p:spPr>
          <a:xfrm>
            <a:off x="191175" y="411475"/>
            <a:ext cx="8821200" cy="3805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100">
                <a:solidFill>
                  <a:schemeClr val="lt1"/>
                </a:solidFill>
                <a:latin typeface="Georgia"/>
                <a:ea typeface="Georgia"/>
                <a:cs typeface="Georgia"/>
                <a:sym typeface="Georgia"/>
              </a:rPr>
              <a:t>After that I start </a:t>
            </a:r>
            <a:r>
              <a:rPr lang="en" sz="2100">
                <a:solidFill>
                  <a:schemeClr val="lt1"/>
                </a:solidFill>
                <a:latin typeface="Georgia"/>
                <a:ea typeface="Georgia"/>
                <a:cs typeface="Georgia"/>
                <a:sym typeface="Georgia"/>
              </a:rPr>
              <a:t>analysis</a:t>
            </a:r>
            <a:r>
              <a:rPr lang="en" sz="2100">
                <a:solidFill>
                  <a:schemeClr val="lt1"/>
                </a:solidFill>
                <a:latin typeface="Georgia"/>
                <a:ea typeface="Georgia"/>
                <a:cs typeface="Georgia"/>
                <a:sym typeface="Georgia"/>
              </a:rPr>
              <a:t> based on the Age group in this phase I analyse the most age </a:t>
            </a:r>
            <a:r>
              <a:rPr lang="en" sz="2100">
                <a:solidFill>
                  <a:schemeClr val="lt1"/>
                </a:solidFill>
                <a:latin typeface="Georgia"/>
                <a:ea typeface="Georgia"/>
                <a:cs typeface="Georgia"/>
                <a:sym typeface="Georgia"/>
              </a:rPr>
              <a:t>group</a:t>
            </a:r>
            <a:r>
              <a:rPr lang="en" sz="2100">
                <a:solidFill>
                  <a:schemeClr val="lt1"/>
                </a:solidFill>
                <a:latin typeface="Georgia"/>
                <a:ea typeface="Georgia"/>
                <a:cs typeface="Georgia"/>
                <a:sym typeface="Georgia"/>
              </a:rPr>
              <a:t> spent by calculate the mean of the age and calculate the total </a:t>
            </a:r>
            <a:r>
              <a:rPr lang="en" sz="2100">
                <a:solidFill>
                  <a:schemeClr val="lt1"/>
                </a:solidFill>
                <a:latin typeface="Georgia"/>
                <a:ea typeface="Georgia"/>
                <a:cs typeface="Georgia"/>
                <a:sym typeface="Georgia"/>
              </a:rPr>
              <a:t>revenue</a:t>
            </a:r>
            <a:r>
              <a:rPr lang="en" sz="2100">
                <a:solidFill>
                  <a:schemeClr val="lt1"/>
                </a:solidFill>
                <a:latin typeface="Georgia"/>
                <a:ea typeface="Georgia"/>
                <a:cs typeface="Georgia"/>
                <a:sym typeface="Georgia"/>
              </a:rPr>
              <a:t> for all ages less than or equal to mean, and </a:t>
            </a:r>
            <a:r>
              <a:rPr lang="en" sz="2100">
                <a:solidFill>
                  <a:schemeClr val="lt1"/>
                </a:solidFill>
                <a:latin typeface="Georgia"/>
                <a:ea typeface="Georgia"/>
                <a:cs typeface="Georgia"/>
                <a:sym typeface="Georgia"/>
              </a:rPr>
              <a:t>greater</a:t>
            </a:r>
            <a:r>
              <a:rPr lang="en" sz="2100">
                <a:solidFill>
                  <a:schemeClr val="lt1"/>
                </a:solidFill>
                <a:latin typeface="Georgia"/>
                <a:ea typeface="Georgia"/>
                <a:cs typeface="Georgia"/>
                <a:sym typeface="Georgia"/>
              </a:rPr>
              <a:t> than mean, I found the </a:t>
            </a:r>
            <a:r>
              <a:rPr lang="en" sz="2100">
                <a:solidFill>
                  <a:schemeClr val="lt1"/>
                </a:solidFill>
                <a:latin typeface="Georgia"/>
                <a:ea typeface="Georgia"/>
                <a:cs typeface="Georgia"/>
                <a:sym typeface="Georgia"/>
              </a:rPr>
              <a:t>group</a:t>
            </a:r>
            <a:r>
              <a:rPr lang="en" sz="2100">
                <a:solidFill>
                  <a:schemeClr val="lt1"/>
                </a:solidFill>
                <a:latin typeface="Georgia"/>
                <a:ea typeface="Georgia"/>
                <a:cs typeface="Georgia"/>
                <a:sym typeface="Georgia"/>
              </a:rPr>
              <a:t> less than or equal to mean spent most.</a:t>
            </a:r>
            <a:endParaRPr sz="21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100">
                <a:solidFill>
                  <a:schemeClr val="lt1"/>
                </a:solidFill>
                <a:latin typeface="Georgia"/>
                <a:ea typeface="Georgia"/>
                <a:cs typeface="Georgia"/>
                <a:sym typeface="Georgia"/>
              </a:rPr>
              <a:t>But after that also i classify the </a:t>
            </a:r>
            <a:r>
              <a:rPr lang="en" sz="2100">
                <a:solidFill>
                  <a:schemeClr val="lt1"/>
                </a:solidFill>
                <a:latin typeface="Georgia"/>
                <a:ea typeface="Georgia"/>
                <a:cs typeface="Georgia"/>
                <a:sym typeface="Georgia"/>
              </a:rPr>
              <a:t>group</a:t>
            </a:r>
            <a:r>
              <a:rPr lang="en" sz="2100">
                <a:solidFill>
                  <a:schemeClr val="lt1"/>
                </a:solidFill>
                <a:latin typeface="Georgia"/>
                <a:ea typeface="Georgia"/>
                <a:cs typeface="Georgia"/>
                <a:sym typeface="Georgia"/>
              </a:rPr>
              <a:t> into three categories teenagers,</a:t>
            </a:r>
            <a:endParaRPr sz="21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100">
                <a:solidFill>
                  <a:schemeClr val="lt1"/>
                </a:solidFill>
                <a:latin typeface="Georgia"/>
                <a:ea typeface="Georgia"/>
                <a:cs typeface="Georgia"/>
                <a:sym typeface="Georgia"/>
              </a:rPr>
              <a:t>Young Adults, Seniors I found the Seniors has been spent most.</a:t>
            </a:r>
            <a:endParaRPr sz="21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100">
                <a:solidFill>
                  <a:schemeClr val="lt1"/>
                </a:solidFill>
                <a:latin typeface="Georgia"/>
                <a:ea typeface="Georgia"/>
                <a:cs typeface="Georgia"/>
                <a:sym typeface="Georgia"/>
              </a:rPr>
              <a:t>I didn't stop there, I divided the ages into four categories:</a:t>
            </a:r>
            <a:endParaRPr sz="2100">
              <a:solidFill>
                <a:schemeClr val="lt1"/>
              </a:solidFill>
              <a:latin typeface="Georgia"/>
              <a:ea typeface="Georgia"/>
              <a:cs typeface="Georgia"/>
              <a:sym typeface="Georgia"/>
            </a:endParaRPr>
          </a:p>
          <a:p>
            <a:pPr indent="-361950" lvl="0" marL="457200" rtl="0" algn="l">
              <a:lnSpc>
                <a:spcPct val="115000"/>
              </a:lnSpc>
              <a:spcBef>
                <a:spcPts val="0"/>
              </a:spcBef>
              <a:spcAft>
                <a:spcPts val="0"/>
              </a:spcAft>
              <a:buClr>
                <a:schemeClr val="lt1"/>
              </a:buClr>
              <a:buSzPts val="2100"/>
              <a:buFont typeface="Georgia"/>
              <a:buAutoNum type="arabicParenR"/>
            </a:pPr>
            <a:r>
              <a:rPr lang="en" sz="2100">
                <a:solidFill>
                  <a:schemeClr val="lt1"/>
                </a:solidFill>
                <a:latin typeface="Georgia"/>
                <a:ea typeface="Georgia"/>
                <a:cs typeface="Georgia"/>
                <a:sym typeface="Georgia"/>
              </a:rPr>
              <a:t>13-19 2) 20-39 4) 40-65 4) &gt;65</a:t>
            </a:r>
            <a:endParaRPr sz="21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100">
                <a:solidFill>
                  <a:schemeClr val="lt1"/>
                </a:solidFill>
                <a:latin typeface="Georgia"/>
                <a:ea typeface="Georgia"/>
                <a:cs typeface="Georgia"/>
                <a:sym typeface="Georgia"/>
              </a:rPr>
              <a:t>I found the most two </a:t>
            </a:r>
            <a:r>
              <a:rPr lang="en" sz="2100">
                <a:solidFill>
                  <a:schemeClr val="lt1"/>
                </a:solidFill>
                <a:latin typeface="Georgia"/>
                <a:ea typeface="Georgia"/>
                <a:cs typeface="Georgia"/>
                <a:sym typeface="Georgia"/>
              </a:rPr>
              <a:t>groups</a:t>
            </a:r>
            <a:r>
              <a:rPr lang="en" sz="2100">
                <a:solidFill>
                  <a:schemeClr val="lt1"/>
                </a:solidFill>
                <a:latin typeface="Georgia"/>
                <a:ea typeface="Georgia"/>
                <a:cs typeface="Georgia"/>
                <a:sym typeface="Georgia"/>
              </a:rPr>
              <a:t> that have been spent 40-65 and &gt;65</a:t>
            </a:r>
            <a:endParaRPr sz="21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100">
                <a:solidFill>
                  <a:schemeClr val="lt1"/>
                </a:solidFill>
                <a:latin typeface="Georgia"/>
                <a:ea typeface="Georgia"/>
                <a:cs typeface="Georgia"/>
                <a:sym typeface="Georgia"/>
              </a:rPr>
              <a:t>And the following the chart shows the </a:t>
            </a:r>
            <a:r>
              <a:rPr lang="en" sz="2100">
                <a:solidFill>
                  <a:schemeClr val="lt1"/>
                </a:solidFill>
                <a:latin typeface="Georgia"/>
                <a:ea typeface="Georgia"/>
                <a:cs typeface="Georgia"/>
                <a:sym typeface="Georgia"/>
              </a:rPr>
              <a:t>results</a:t>
            </a:r>
            <a:endParaRPr sz="2100">
              <a:solidFill>
                <a:schemeClr val="lt1"/>
              </a:solidFill>
              <a:latin typeface="Georgia"/>
              <a:ea typeface="Georgia"/>
              <a:cs typeface="Georgia"/>
              <a:sym typeface="Georgia"/>
            </a:endParaRPr>
          </a:p>
          <a:p>
            <a:pPr indent="0" lvl="0" marL="0" rtl="0" algn="l">
              <a:spcBef>
                <a:spcPts val="0"/>
              </a:spcBef>
              <a:spcAft>
                <a:spcPts val="0"/>
              </a:spcAft>
              <a:buNone/>
            </a:pPr>
            <a:r>
              <a:t/>
            </a:r>
            <a:endParaRPr sz="2100">
              <a:solidFill>
                <a:schemeClr val="lt1"/>
              </a:solidFill>
              <a:latin typeface="Georgia"/>
              <a:ea typeface="Georgia"/>
              <a:cs typeface="Georgia"/>
              <a:sym typeface="Georgia"/>
            </a:endParaRPr>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92" name="Shape 92"/>
        <p:cNvGrpSpPr/>
        <p:nvPr/>
      </p:nvGrpSpPr>
      <p:grpSpPr>
        <a:xfrm>
          <a:off x="0" y="0"/>
          <a:ext cx="0" cy="0"/>
          <a:chOff x="0" y="0"/>
          <a:chExt cx="0" cy="0"/>
        </a:xfrm>
      </p:grpSpPr>
      <p:sp>
        <p:nvSpPr>
          <p:cNvPr id="93" name="Google Shape;93;p19"/>
          <p:cNvSpPr txBox="1"/>
          <p:nvPr/>
        </p:nvSpPr>
        <p:spPr>
          <a:xfrm>
            <a:off x="1948150" y="329575"/>
            <a:ext cx="5662500" cy="609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t/>
            </a:r>
            <a:endParaRPr sz="2400">
              <a:solidFill>
                <a:schemeClr val="lt1"/>
              </a:solidFill>
              <a:latin typeface="Georgia"/>
              <a:ea typeface="Georgia"/>
              <a:cs typeface="Georgia"/>
              <a:sym typeface="Georgia"/>
            </a:endParaRPr>
          </a:p>
        </p:txBody>
      </p:sp>
      <p:sp>
        <p:nvSpPr>
          <p:cNvPr id="94" name="Google Shape;94;p19"/>
          <p:cNvSpPr txBox="1"/>
          <p:nvPr/>
        </p:nvSpPr>
        <p:spPr>
          <a:xfrm>
            <a:off x="537100" y="853800"/>
            <a:ext cx="7565100" cy="428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500">
              <a:solidFill>
                <a:schemeClr val="lt1"/>
              </a:solidFill>
              <a:latin typeface="Georgia"/>
              <a:ea typeface="Georgia"/>
              <a:cs typeface="Georgia"/>
              <a:sym typeface="Georgia"/>
            </a:endParaRPr>
          </a:p>
        </p:txBody>
      </p:sp>
      <p:sp>
        <p:nvSpPr>
          <p:cNvPr id="95" name="Google Shape;95;p19"/>
          <p:cNvSpPr txBox="1"/>
          <p:nvPr/>
        </p:nvSpPr>
        <p:spPr>
          <a:xfrm>
            <a:off x="1074200" y="256725"/>
            <a:ext cx="8821200" cy="380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96" name="Google Shape;96;p19"/>
          <p:cNvPicPr preferRelativeResize="0"/>
          <p:nvPr/>
        </p:nvPicPr>
        <p:blipFill>
          <a:blip r:embed="rId3">
            <a:alphaModFix/>
          </a:blip>
          <a:stretch>
            <a:fillRect/>
          </a:stretch>
        </p:blipFill>
        <p:spPr>
          <a:xfrm>
            <a:off x="0" y="-39584"/>
            <a:ext cx="9144000" cy="518308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00" name="Shape 100"/>
        <p:cNvGrpSpPr/>
        <p:nvPr/>
      </p:nvGrpSpPr>
      <p:grpSpPr>
        <a:xfrm>
          <a:off x="0" y="0"/>
          <a:ext cx="0" cy="0"/>
          <a:chOff x="0" y="0"/>
          <a:chExt cx="0" cy="0"/>
        </a:xfrm>
      </p:grpSpPr>
      <p:sp>
        <p:nvSpPr>
          <p:cNvPr id="101" name="Google Shape;101;p20"/>
          <p:cNvSpPr txBox="1"/>
          <p:nvPr/>
        </p:nvSpPr>
        <p:spPr>
          <a:xfrm>
            <a:off x="0" y="47350"/>
            <a:ext cx="8866800" cy="131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lt1"/>
              </a:solidFill>
              <a:latin typeface="Georgia"/>
              <a:ea typeface="Georgia"/>
              <a:cs typeface="Georgia"/>
              <a:sym typeface="Georgia"/>
            </a:endParaRPr>
          </a:p>
        </p:txBody>
      </p:sp>
      <p:sp>
        <p:nvSpPr>
          <p:cNvPr id="102" name="Google Shape;102;p20"/>
          <p:cNvSpPr txBox="1"/>
          <p:nvPr/>
        </p:nvSpPr>
        <p:spPr>
          <a:xfrm>
            <a:off x="582625" y="393275"/>
            <a:ext cx="53439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03" name="Google Shape;103;p20"/>
          <p:cNvSpPr txBox="1"/>
          <p:nvPr/>
        </p:nvSpPr>
        <p:spPr>
          <a:xfrm>
            <a:off x="391450" y="338650"/>
            <a:ext cx="7392000" cy="1908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I show in each category which gender is most spent after classify the age </a:t>
            </a:r>
            <a:r>
              <a:rPr lang="en" sz="2000">
                <a:solidFill>
                  <a:schemeClr val="lt1"/>
                </a:solidFill>
                <a:latin typeface="Georgia"/>
                <a:ea typeface="Georgia"/>
                <a:cs typeface="Georgia"/>
                <a:sym typeface="Georgia"/>
              </a:rPr>
              <a:t>groups</a:t>
            </a:r>
            <a:r>
              <a:rPr lang="en" sz="2000">
                <a:solidFill>
                  <a:schemeClr val="lt1"/>
                </a:solidFill>
                <a:latin typeface="Georgia"/>
                <a:ea typeface="Georgia"/>
                <a:cs typeface="Georgia"/>
                <a:sym typeface="Georgia"/>
              </a:rPr>
              <a:t> and get the the information for each </a:t>
            </a:r>
            <a:r>
              <a:rPr lang="en" sz="2000">
                <a:solidFill>
                  <a:schemeClr val="lt1"/>
                </a:solidFill>
                <a:latin typeface="Georgia"/>
                <a:ea typeface="Georgia"/>
                <a:cs typeface="Georgia"/>
                <a:sym typeface="Georgia"/>
              </a:rPr>
              <a:t>group</a:t>
            </a:r>
            <a:r>
              <a:rPr lang="en" sz="2000">
                <a:solidFill>
                  <a:schemeClr val="lt1"/>
                </a:solidFill>
                <a:latin typeface="Georgia"/>
                <a:ea typeface="Georgia"/>
                <a:cs typeface="Georgia"/>
                <a:sym typeface="Georgia"/>
              </a:rPr>
              <a:t> and make grouping for each </a:t>
            </a:r>
            <a:r>
              <a:rPr lang="en" sz="2000">
                <a:solidFill>
                  <a:schemeClr val="lt1"/>
                </a:solidFill>
                <a:latin typeface="Georgia"/>
                <a:ea typeface="Georgia"/>
                <a:cs typeface="Georgia"/>
                <a:sym typeface="Georgia"/>
              </a:rPr>
              <a:t>gender</a:t>
            </a:r>
            <a:r>
              <a:rPr lang="en" sz="2000">
                <a:solidFill>
                  <a:schemeClr val="lt1"/>
                </a:solidFill>
                <a:latin typeface="Georgia"/>
                <a:ea typeface="Georgia"/>
                <a:cs typeface="Georgia"/>
                <a:sym typeface="Georgia"/>
              </a:rPr>
              <a:t> type with total sum of </a:t>
            </a:r>
            <a:r>
              <a:rPr lang="en" sz="2000">
                <a:solidFill>
                  <a:schemeClr val="lt1"/>
                </a:solidFill>
                <a:latin typeface="Georgia"/>
                <a:ea typeface="Georgia"/>
                <a:cs typeface="Georgia"/>
                <a:sym typeface="Georgia"/>
              </a:rPr>
              <a:t>revenue</a:t>
            </a:r>
            <a:r>
              <a:rPr lang="en" sz="2000">
                <a:solidFill>
                  <a:schemeClr val="lt1"/>
                </a:solidFill>
                <a:latin typeface="Georgia"/>
                <a:ea typeface="Georgia"/>
                <a:cs typeface="Georgia"/>
                <a:sym typeface="Georgia"/>
              </a:rPr>
              <a:t> shows that the female has most spent </a:t>
            </a:r>
            <a:r>
              <a:rPr lang="en" sz="2000">
                <a:solidFill>
                  <a:schemeClr val="lt1"/>
                </a:solidFill>
                <a:latin typeface="Georgia"/>
                <a:ea typeface="Georgia"/>
                <a:cs typeface="Georgia"/>
                <a:sym typeface="Georgia"/>
              </a:rPr>
              <a:t>and</a:t>
            </a:r>
            <a:r>
              <a:rPr lang="en" sz="2000">
                <a:solidFill>
                  <a:schemeClr val="lt1"/>
                </a:solidFill>
                <a:latin typeface="Georgia"/>
                <a:ea typeface="Georgia"/>
                <a:cs typeface="Georgia"/>
                <a:sym typeface="Georgia"/>
              </a:rPr>
              <a:t> the following chart shows that</a:t>
            </a:r>
            <a:endParaRPr sz="2000">
              <a:solidFill>
                <a:schemeClr val="lt1"/>
              </a:solidFill>
              <a:latin typeface="Georgia"/>
              <a:ea typeface="Georgia"/>
              <a:cs typeface="Georgia"/>
              <a:sym typeface="Georgia"/>
            </a:endParaRPr>
          </a:p>
        </p:txBody>
      </p:sp>
      <p:pic>
        <p:nvPicPr>
          <p:cNvPr id="104" name="Google Shape;104;p20"/>
          <p:cNvPicPr preferRelativeResize="0"/>
          <p:nvPr/>
        </p:nvPicPr>
        <p:blipFill>
          <a:blip r:embed="rId3">
            <a:alphaModFix/>
          </a:blip>
          <a:stretch>
            <a:fillRect/>
          </a:stretch>
        </p:blipFill>
        <p:spPr>
          <a:xfrm>
            <a:off x="116000" y="2329200"/>
            <a:ext cx="5255099" cy="2591450"/>
          </a:xfrm>
          <a:prstGeom prst="rect">
            <a:avLst/>
          </a:prstGeom>
          <a:noFill/>
          <a:ln>
            <a:noFill/>
          </a:ln>
        </p:spPr>
      </p:pic>
      <p:sp>
        <p:nvSpPr>
          <p:cNvPr id="105" name="Google Shape;105;p20"/>
          <p:cNvSpPr/>
          <p:nvPr/>
        </p:nvSpPr>
        <p:spPr>
          <a:xfrm>
            <a:off x="5585000" y="2559925"/>
            <a:ext cx="3331800" cy="1834500"/>
          </a:xfrm>
          <a:prstGeom prst="rect">
            <a:avLst/>
          </a:prstGeom>
          <a:solidFill>
            <a:schemeClr val="dk2"/>
          </a:solidFill>
          <a:ln cap="flat" cmpd="sng" w="38100">
            <a:solidFill>
              <a:schemeClr val="lt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20"/>
          <p:cNvSpPr txBox="1"/>
          <p:nvPr/>
        </p:nvSpPr>
        <p:spPr>
          <a:xfrm>
            <a:off x="5635100" y="2559925"/>
            <a:ext cx="3231600" cy="115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The following chart shows spent for each gender type in age group 13-19</a:t>
            </a:r>
            <a:endParaRPr sz="2000">
              <a:solidFill>
                <a:schemeClr val="lt1"/>
              </a:solidFill>
              <a:latin typeface="Georgia"/>
              <a:ea typeface="Georgia"/>
              <a:cs typeface="Georgia"/>
              <a:sym typeface="Georgi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10" name="Shape 110"/>
        <p:cNvGrpSpPr/>
        <p:nvPr/>
      </p:nvGrpSpPr>
      <p:grpSpPr>
        <a:xfrm>
          <a:off x="0" y="0"/>
          <a:ext cx="0" cy="0"/>
          <a:chOff x="0" y="0"/>
          <a:chExt cx="0" cy="0"/>
        </a:xfrm>
      </p:grpSpPr>
      <p:pic>
        <p:nvPicPr>
          <p:cNvPr id="111" name="Google Shape;111;p21"/>
          <p:cNvPicPr preferRelativeResize="0"/>
          <p:nvPr/>
        </p:nvPicPr>
        <p:blipFill>
          <a:blip r:embed="rId3">
            <a:alphaModFix/>
          </a:blip>
          <a:stretch>
            <a:fillRect/>
          </a:stretch>
        </p:blipFill>
        <p:spPr>
          <a:xfrm>
            <a:off x="152400" y="152400"/>
            <a:ext cx="4544123" cy="4838700"/>
          </a:xfrm>
          <a:prstGeom prst="rect">
            <a:avLst/>
          </a:prstGeom>
          <a:noFill/>
          <a:ln>
            <a:noFill/>
          </a:ln>
        </p:spPr>
      </p:pic>
      <p:sp>
        <p:nvSpPr>
          <p:cNvPr id="112" name="Google Shape;112;p21"/>
          <p:cNvSpPr/>
          <p:nvPr/>
        </p:nvSpPr>
        <p:spPr>
          <a:xfrm>
            <a:off x="5207225" y="1003200"/>
            <a:ext cx="3368400" cy="1629600"/>
          </a:xfrm>
          <a:prstGeom prst="rect">
            <a:avLst/>
          </a:prstGeom>
          <a:solidFill>
            <a:schemeClr val="dk2"/>
          </a:solidFill>
          <a:ln cap="flat" cmpd="sng" w="38100">
            <a:solidFill>
              <a:schemeClr val="accent3"/>
            </a:solidFill>
            <a:prstDash val="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 name="Google Shape;113;p21"/>
          <p:cNvSpPr txBox="1"/>
          <p:nvPr/>
        </p:nvSpPr>
        <p:spPr>
          <a:xfrm>
            <a:off x="5298250" y="1194375"/>
            <a:ext cx="3186300" cy="1238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900">
                <a:solidFill>
                  <a:schemeClr val="lt1"/>
                </a:solidFill>
                <a:latin typeface="Georgia"/>
                <a:ea typeface="Georgia"/>
                <a:cs typeface="Georgia"/>
                <a:sym typeface="Georgia"/>
              </a:rPr>
              <a:t>The following chart shows the spent for each male and female in group 20-39</a:t>
            </a:r>
            <a:endParaRPr sz="1900">
              <a:solidFill>
                <a:schemeClr val="lt1"/>
              </a:solidFill>
              <a:latin typeface="Georgia"/>
              <a:ea typeface="Georgia"/>
              <a:cs typeface="Georgia"/>
              <a:sym typeface="Georgi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17" name="Shape 117"/>
        <p:cNvGrpSpPr/>
        <p:nvPr/>
      </p:nvGrpSpPr>
      <p:grpSpPr>
        <a:xfrm>
          <a:off x="0" y="0"/>
          <a:ext cx="0" cy="0"/>
          <a:chOff x="0" y="0"/>
          <a:chExt cx="0" cy="0"/>
        </a:xfrm>
      </p:grpSpPr>
      <p:sp>
        <p:nvSpPr>
          <p:cNvPr id="118" name="Google Shape;118;p22"/>
          <p:cNvSpPr txBox="1"/>
          <p:nvPr/>
        </p:nvSpPr>
        <p:spPr>
          <a:xfrm>
            <a:off x="254900" y="402375"/>
            <a:ext cx="7892700" cy="1547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Also I noticed that female and male are </a:t>
            </a:r>
            <a:r>
              <a:rPr lang="en" sz="2000">
                <a:solidFill>
                  <a:schemeClr val="lt1"/>
                </a:solidFill>
                <a:latin typeface="Georgia"/>
                <a:ea typeface="Georgia"/>
                <a:cs typeface="Georgia"/>
                <a:sym typeface="Georgia"/>
              </a:rPr>
              <a:t>favourite</a:t>
            </a:r>
            <a:r>
              <a:rPr lang="en" sz="2000">
                <a:solidFill>
                  <a:schemeClr val="lt1"/>
                </a:solidFill>
                <a:latin typeface="Georgia"/>
                <a:ea typeface="Georgia"/>
                <a:cs typeface="Georgia"/>
                <a:sym typeface="Georgia"/>
              </a:rPr>
              <a:t> payment method cash.</a:t>
            </a:r>
            <a:endParaRPr sz="20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000">
                <a:solidFill>
                  <a:schemeClr val="lt1"/>
                </a:solidFill>
                <a:latin typeface="Georgia"/>
                <a:ea typeface="Georgia"/>
                <a:cs typeface="Georgia"/>
                <a:sym typeface="Georgia"/>
              </a:rPr>
              <a:t>The following bar chart shows the total </a:t>
            </a:r>
            <a:r>
              <a:rPr lang="en" sz="2000">
                <a:solidFill>
                  <a:schemeClr val="lt1"/>
                </a:solidFill>
                <a:latin typeface="Georgia"/>
                <a:ea typeface="Georgia"/>
                <a:cs typeface="Georgia"/>
                <a:sym typeface="Georgia"/>
              </a:rPr>
              <a:t>revenue</a:t>
            </a:r>
            <a:r>
              <a:rPr lang="en" sz="2000">
                <a:solidFill>
                  <a:schemeClr val="lt1"/>
                </a:solidFill>
                <a:latin typeface="Georgia"/>
                <a:ea typeface="Georgia"/>
                <a:cs typeface="Georgia"/>
                <a:sym typeface="Georgia"/>
              </a:rPr>
              <a:t> for each mall in the </a:t>
            </a:r>
            <a:r>
              <a:rPr lang="en" sz="2000">
                <a:solidFill>
                  <a:schemeClr val="lt1"/>
                </a:solidFill>
                <a:latin typeface="Georgia"/>
                <a:ea typeface="Georgia"/>
                <a:cs typeface="Georgia"/>
                <a:sym typeface="Georgia"/>
              </a:rPr>
              <a:t>period</a:t>
            </a:r>
            <a:r>
              <a:rPr lang="en" sz="2000">
                <a:solidFill>
                  <a:schemeClr val="lt1"/>
                </a:solidFill>
                <a:latin typeface="Georgia"/>
                <a:ea typeface="Georgia"/>
                <a:cs typeface="Georgia"/>
                <a:sym typeface="Georgia"/>
              </a:rPr>
              <a:t> 2021-203</a:t>
            </a:r>
            <a:endParaRPr sz="2000">
              <a:solidFill>
                <a:schemeClr val="lt1"/>
              </a:solidFill>
              <a:latin typeface="Georgia"/>
              <a:ea typeface="Georgia"/>
              <a:cs typeface="Georgia"/>
              <a:sym typeface="Georgia"/>
            </a:endParaRPr>
          </a:p>
        </p:txBody>
      </p:sp>
      <p:pic>
        <p:nvPicPr>
          <p:cNvPr id="119" name="Google Shape;119;p22"/>
          <p:cNvPicPr preferRelativeResize="0"/>
          <p:nvPr/>
        </p:nvPicPr>
        <p:blipFill>
          <a:blip r:embed="rId3">
            <a:alphaModFix/>
          </a:blip>
          <a:stretch>
            <a:fillRect/>
          </a:stretch>
        </p:blipFill>
        <p:spPr>
          <a:xfrm>
            <a:off x="118350" y="2031900"/>
            <a:ext cx="4032876" cy="2959199"/>
          </a:xfrm>
          <a:prstGeom prst="rect">
            <a:avLst/>
          </a:prstGeom>
          <a:noFill/>
          <a:ln>
            <a:noFill/>
          </a:ln>
        </p:spPr>
      </p:pic>
      <p:sp>
        <p:nvSpPr>
          <p:cNvPr id="120" name="Google Shape;120;p22"/>
          <p:cNvSpPr/>
          <p:nvPr/>
        </p:nvSpPr>
        <p:spPr>
          <a:xfrm>
            <a:off x="4506250" y="2195775"/>
            <a:ext cx="4032900" cy="2549100"/>
          </a:xfrm>
          <a:prstGeom prst="rect">
            <a:avLst/>
          </a:prstGeom>
          <a:solidFill>
            <a:srgbClr val="666666"/>
          </a:solidFill>
          <a:ln cap="flat" cmpd="sng" w="38100">
            <a:solidFill>
              <a:schemeClr val="lt1"/>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22"/>
          <p:cNvSpPr txBox="1"/>
          <p:nvPr/>
        </p:nvSpPr>
        <p:spPr>
          <a:xfrm>
            <a:off x="4884100" y="2423375"/>
            <a:ext cx="3277200" cy="1948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chemeClr val="lt2"/>
                </a:solidFill>
                <a:latin typeface="Georgia"/>
                <a:ea typeface="Georgia"/>
                <a:cs typeface="Georgia"/>
                <a:sym typeface="Georgia"/>
              </a:rPr>
              <a:t>The bar chart shows that the most two malls that have highest revenue are Mall of Istanbul and</a:t>
            </a:r>
            <a:endParaRPr sz="2000">
              <a:solidFill>
                <a:schemeClr val="lt2"/>
              </a:solidFill>
              <a:latin typeface="Georgia"/>
              <a:ea typeface="Georgia"/>
              <a:cs typeface="Georgia"/>
              <a:sym typeface="Georgia"/>
            </a:endParaRPr>
          </a:p>
          <a:p>
            <a:pPr indent="0" lvl="0" marL="0" rtl="0" algn="l">
              <a:lnSpc>
                <a:spcPct val="115000"/>
              </a:lnSpc>
              <a:spcBef>
                <a:spcPts val="0"/>
              </a:spcBef>
              <a:spcAft>
                <a:spcPts val="0"/>
              </a:spcAft>
              <a:buNone/>
            </a:pPr>
            <a:r>
              <a:rPr lang="en" sz="2000">
                <a:solidFill>
                  <a:schemeClr val="lt2"/>
                </a:solidFill>
                <a:latin typeface="Georgia"/>
                <a:ea typeface="Georgia"/>
                <a:cs typeface="Georgia"/>
                <a:sym typeface="Georgia"/>
              </a:rPr>
              <a:t>Kanyon.</a:t>
            </a:r>
            <a:endParaRPr sz="2000">
              <a:solidFill>
                <a:schemeClr val="lt2"/>
              </a:solidFill>
              <a:latin typeface="Georgia"/>
              <a:ea typeface="Georgia"/>
              <a:cs typeface="Georgia"/>
              <a:sym typeface="Georg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3"/>
        </a:solidFill>
      </p:bgPr>
    </p:bg>
    <p:spTree>
      <p:nvGrpSpPr>
        <p:cNvPr id="125" name="Shape 125"/>
        <p:cNvGrpSpPr/>
        <p:nvPr/>
      </p:nvGrpSpPr>
      <p:grpSpPr>
        <a:xfrm>
          <a:off x="0" y="0"/>
          <a:ext cx="0" cy="0"/>
          <a:chOff x="0" y="0"/>
          <a:chExt cx="0" cy="0"/>
        </a:xfrm>
      </p:grpSpPr>
      <p:sp>
        <p:nvSpPr>
          <p:cNvPr id="126" name="Google Shape;126;p23"/>
          <p:cNvSpPr txBox="1"/>
          <p:nvPr/>
        </p:nvSpPr>
        <p:spPr>
          <a:xfrm>
            <a:off x="227575" y="365925"/>
            <a:ext cx="9144000" cy="124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200">
                <a:solidFill>
                  <a:schemeClr val="lt1"/>
                </a:solidFill>
                <a:latin typeface="Georgia"/>
                <a:ea typeface="Georgia"/>
                <a:cs typeface="Georgia"/>
                <a:sym typeface="Georgia"/>
              </a:rPr>
              <a:t>Also I calculate the percentage of revenue of each mall from total revenue over the period 2021-2023 shows that also Mall of Istanbul and</a:t>
            </a:r>
            <a:endParaRPr sz="2200">
              <a:solidFill>
                <a:schemeClr val="lt1"/>
              </a:solidFill>
              <a:latin typeface="Georgia"/>
              <a:ea typeface="Georgia"/>
              <a:cs typeface="Georgia"/>
              <a:sym typeface="Georgia"/>
            </a:endParaRPr>
          </a:p>
          <a:p>
            <a:pPr indent="0" lvl="0" marL="0" rtl="0" algn="l">
              <a:lnSpc>
                <a:spcPct val="115000"/>
              </a:lnSpc>
              <a:spcBef>
                <a:spcPts val="0"/>
              </a:spcBef>
              <a:spcAft>
                <a:spcPts val="0"/>
              </a:spcAft>
              <a:buNone/>
            </a:pPr>
            <a:r>
              <a:rPr lang="en" sz="2200">
                <a:solidFill>
                  <a:schemeClr val="lt1"/>
                </a:solidFill>
                <a:latin typeface="Georgia"/>
                <a:ea typeface="Georgia"/>
                <a:cs typeface="Georgia"/>
                <a:sym typeface="Georgia"/>
              </a:rPr>
              <a:t>Kanyon have </a:t>
            </a:r>
            <a:r>
              <a:rPr lang="en" sz="2200">
                <a:solidFill>
                  <a:schemeClr val="lt1"/>
                </a:solidFill>
                <a:latin typeface="Georgia"/>
                <a:ea typeface="Georgia"/>
                <a:cs typeface="Georgia"/>
                <a:sym typeface="Georgia"/>
              </a:rPr>
              <a:t>highest</a:t>
            </a:r>
            <a:r>
              <a:rPr lang="en" sz="2200">
                <a:solidFill>
                  <a:schemeClr val="lt1"/>
                </a:solidFill>
                <a:latin typeface="Georgia"/>
                <a:ea typeface="Georgia"/>
                <a:cs typeface="Georgia"/>
                <a:sym typeface="Georgia"/>
              </a:rPr>
              <a:t> percentage of revenue.</a:t>
            </a:r>
            <a:endParaRPr sz="2200">
              <a:solidFill>
                <a:schemeClr val="lt1"/>
              </a:solidFill>
              <a:latin typeface="Georgia"/>
              <a:ea typeface="Georgia"/>
              <a:cs typeface="Georgia"/>
              <a:sym typeface="Georgia"/>
            </a:endParaRPr>
          </a:p>
          <a:p>
            <a:pPr indent="0" lvl="0" marL="0" rtl="0" algn="l">
              <a:spcBef>
                <a:spcPts val="0"/>
              </a:spcBef>
              <a:spcAft>
                <a:spcPts val="0"/>
              </a:spcAft>
              <a:buNone/>
            </a:pPr>
            <a:r>
              <a:t/>
            </a:r>
            <a:endParaRPr sz="2200">
              <a:solidFill>
                <a:schemeClr val="lt1"/>
              </a:solidFill>
              <a:latin typeface="Georgia"/>
              <a:ea typeface="Georgia"/>
              <a:cs typeface="Georgia"/>
              <a:sym typeface="Georgia"/>
            </a:endParaRPr>
          </a:p>
        </p:txBody>
      </p:sp>
      <p:pic>
        <p:nvPicPr>
          <p:cNvPr id="127" name="Google Shape;127;p23"/>
          <p:cNvPicPr preferRelativeResize="0"/>
          <p:nvPr/>
        </p:nvPicPr>
        <p:blipFill>
          <a:blip r:embed="rId3">
            <a:alphaModFix/>
          </a:blip>
          <a:stretch>
            <a:fillRect/>
          </a:stretch>
        </p:blipFill>
        <p:spPr>
          <a:xfrm>
            <a:off x="152400" y="1765425"/>
            <a:ext cx="4108051" cy="3225674"/>
          </a:xfrm>
          <a:prstGeom prst="rect">
            <a:avLst/>
          </a:prstGeom>
          <a:noFill/>
          <a:ln>
            <a:noFill/>
          </a:ln>
        </p:spPr>
      </p:pic>
      <p:sp>
        <p:nvSpPr>
          <p:cNvPr id="128" name="Google Shape;128;p23"/>
          <p:cNvSpPr/>
          <p:nvPr/>
        </p:nvSpPr>
        <p:spPr>
          <a:xfrm>
            <a:off x="4742950" y="1959075"/>
            <a:ext cx="3941700" cy="2612700"/>
          </a:xfrm>
          <a:prstGeom prst="rect">
            <a:avLst/>
          </a:prstGeom>
          <a:solidFill>
            <a:srgbClr val="B7B7B7"/>
          </a:solidFill>
          <a:ln cap="flat" cmpd="sng" w="38100">
            <a:solidFill>
              <a:schemeClr val="dk2"/>
            </a:solidFill>
            <a:prstDash val="dashDot"/>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 name="Google Shape;129;p23"/>
          <p:cNvSpPr txBox="1"/>
          <p:nvPr/>
        </p:nvSpPr>
        <p:spPr>
          <a:xfrm>
            <a:off x="5134300" y="2259500"/>
            <a:ext cx="3159000" cy="2039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434343"/>
                </a:solidFill>
                <a:latin typeface="Georgia"/>
                <a:ea typeface="Georgia"/>
                <a:cs typeface="Georgia"/>
                <a:sym typeface="Georgia"/>
              </a:rPr>
              <a:t>T</a:t>
            </a:r>
            <a:r>
              <a:rPr lang="en" sz="1700">
                <a:solidFill>
                  <a:srgbClr val="434343"/>
                </a:solidFill>
                <a:latin typeface="Georgia"/>
                <a:ea typeface="Georgia"/>
                <a:cs typeface="Georgia"/>
                <a:sym typeface="Georgia"/>
              </a:rPr>
              <a:t>he following bar chart </a:t>
            </a:r>
            <a:r>
              <a:rPr lang="en" sz="1700">
                <a:solidFill>
                  <a:srgbClr val="434343"/>
                </a:solidFill>
                <a:latin typeface="Georgia"/>
                <a:ea typeface="Georgia"/>
                <a:cs typeface="Georgia"/>
                <a:sym typeface="Georgia"/>
              </a:rPr>
              <a:t>shows</a:t>
            </a:r>
            <a:r>
              <a:rPr lang="en" sz="1700">
                <a:solidFill>
                  <a:srgbClr val="434343"/>
                </a:solidFill>
                <a:latin typeface="Georgia"/>
                <a:ea typeface="Georgia"/>
                <a:cs typeface="Georgia"/>
                <a:sym typeface="Georgia"/>
              </a:rPr>
              <a:t> the percentage revenue of each mall over period 2021-2023 ans shows that the Mall of Istanbul has highest percentage revenque of total </a:t>
            </a:r>
            <a:r>
              <a:rPr lang="en" sz="1700">
                <a:solidFill>
                  <a:srgbClr val="434343"/>
                </a:solidFill>
                <a:latin typeface="Georgia"/>
                <a:ea typeface="Georgia"/>
                <a:cs typeface="Georgia"/>
                <a:sym typeface="Georgia"/>
              </a:rPr>
              <a:t>revenue</a:t>
            </a:r>
            <a:endParaRPr sz="1700">
              <a:solidFill>
                <a:srgbClr val="434343"/>
              </a:solidFill>
              <a:latin typeface="Georgia"/>
              <a:ea typeface="Georgia"/>
              <a:cs typeface="Georgia"/>
              <a:sym typeface="Georgi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